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826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78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09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55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877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999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10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08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842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812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066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089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808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03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382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712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492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B83CFBE-38CE-4B69-8A81-D7B324531F5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486B8DF-0BDC-4914-9121-5E4F26EAF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503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raghuramanr16-pixel/Credit-Card_Financial-Dashboar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5D7E-7FCE-48CA-6C32-4A158E7C61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CREDIT CARD 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4553E-4164-9A04-C122-D2B8AB0415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Berlin Sans FB" panose="020E0602020502020306" pitchFamily="34" charset="0"/>
              </a:rPr>
              <a:t>WEEKLY STATUS REPORT</a:t>
            </a:r>
            <a:endParaRPr lang="en-IN" sz="3600" dirty="0">
              <a:solidFill>
                <a:srgbClr val="FF0000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617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86494-94D6-1E74-6CC6-7FF34C32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D60093"/>
                </a:solidFill>
                <a:latin typeface="Arial Rounded MT Bold" panose="020F0704030504030204" pitchFamily="34" charset="0"/>
              </a:rPr>
              <a:t>Project Objective</a:t>
            </a:r>
            <a:endParaRPr lang="en-IN" dirty="0">
              <a:solidFill>
                <a:srgbClr val="D60093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85376-5F3F-AE6A-AC49-94BEBF506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>
                <a:latin typeface="Garamond" panose="02020404030301010803" pitchFamily="18" charset="0"/>
              </a:rPr>
              <a:t>To develop a comprehensive detailed credit card weekly dashboard that provides real-time insights into key performance metrics and trends, enabling stakeholders to monitor and analyze credit card operations effectively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3993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9EDB-F540-97B9-7E95-41B9DCA21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Steps followed for project creation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36D19-9784-BF3E-93BE-0A281A884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dirty="0"/>
              <a:t>Importing Data to SQL Database</a:t>
            </a:r>
          </a:p>
          <a:p>
            <a:r>
              <a:rPr lang="en-US" sz="3600" dirty="0"/>
              <a:t>Transferring Data to Power BI from SQL</a:t>
            </a:r>
          </a:p>
          <a:p>
            <a:r>
              <a:rPr lang="en-US" sz="3600" dirty="0"/>
              <a:t>Processing Data and using DAX</a:t>
            </a:r>
          </a:p>
          <a:p>
            <a:r>
              <a:rPr lang="en-US" sz="3600" dirty="0"/>
              <a:t>Creating Dashboards </a:t>
            </a:r>
          </a:p>
          <a:p>
            <a:r>
              <a:rPr lang="en-US" sz="3600" dirty="0"/>
              <a:t>Deriving valuable insights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330B2-8E39-1BF4-3A62-D0C5923E6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527" y="4385736"/>
            <a:ext cx="2141590" cy="16460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113D9C-79CB-9846-C61F-8A0CDD819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007" y="2641600"/>
            <a:ext cx="3106993" cy="165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68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D0E8B-2403-9960-C8B6-B0DF6A72B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Data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6C77C-86DD-BCEB-544D-1E17D43D4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3429000"/>
            <a:ext cx="9601196" cy="1385803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erlin Sans FB" panose="020E0602020502020306" pitchFamily="34" charset="0"/>
              </a:rPr>
              <a:t>GitHub</a:t>
            </a:r>
            <a:r>
              <a:rPr lang="en-US" dirty="0"/>
              <a:t> -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https://github.com/raghuramanr16-pixel/Credit-Card_Financial-Dashboard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9648C-022F-7BD0-2425-26848673E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336" y="4554098"/>
            <a:ext cx="1077327" cy="115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51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36076-F4FD-7FDC-280F-F86238AD8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Importing Data to SQL Database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43D6B-2911-9B0A-43B9-B1B8FF997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Prepared CSV files</a:t>
            </a:r>
          </a:p>
          <a:p>
            <a:r>
              <a:rPr lang="en-US" sz="4000" dirty="0"/>
              <a:t>Created tables in SQL</a:t>
            </a:r>
          </a:p>
          <a:p>
            <a:r>
              <a:rPr lang="en-US" sz="4000" dirty="0"/>
              <a:t>Imported CSV files into SQL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3F998A-5845-D751-189E-E1527A8A3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897" y="3429000"/>
            <a:ext cx="25527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90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E671E2-B8D9-2499-F6F2-859A6945C796}"/>
              </a:ext>
            </a:extLst>
          </p:cNvPr>
          <p:cNvSpPr txBox="1"/>
          <p:nvPr/>
        </p:nvSpPr>
        <p:spPr>
          <a:xfrm>
            <a:off x="1091381" y="983226"/>
            <a:ext cx="101272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DAX Queries Used:</a:t>
            </a:r>
          </a:p>
          <a:p>
            <a:endParaRPr lang="en-IN" sz="32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  <a:p>
            <a:r>
              <a:rPr lang="en-IN" sz="1600" dirty="0">
                <a:latin typeface="Arial Rounded MT Bold" panose="020F0704030504030204" pitchFamily="34" charset="0"/>
              </a:rPr>
              <a:t>1. </a:t>
            </a:r>
            <a:r>
              <a:rPr lang="en-IN" sz="1600" dirty="0" err="1">
                <a:latin typeface="Arial Rounded MT Bold" panose="020F0704030504030204" pitchFamily="34" charset="0"/>
              </a:rPr>
              <a:t>AgeGroup</a:t>
            </a:r>
            <a:r>
              <a:rPr lang="en-IN" sz="1600" dirty="0">
                <a:latin typeface="Arial Rounded MT Bold" panose="020F0704030504030204" pitchFamily="34" charset="0"/>
              </a:rPr>
              <a:t> = SWITCH(</a:t>
            </a:r>
          </a:p>
          <a:p>
            <a:r>
              <a:rPr lang="en-IN" sz="1600" dirty="0">
                <a:latin typeface="Arial Rounded MT Bold" panose="020F0704030504030204" pitchFamily="34" charset="0"/>
              </a:rPr>
              <a:t>    TRUE(),</a:t>
            </a:r>
          </a:p>
          <a:p>
            <a:r>
              <a:rPr lang="en-IN" sz="1600" dirty="0">
                <a:latin typeface="Arial Rounded MT Bold" panose="020F0704030504030204" pitchFamily="34" charset="0"/>
              </a:rPr>
              <a:t>   'public </a:t>
            </a:r>
            <a:r>
              <a:rPr lang="en-IN" sz="1600" dirty="0" err="1">
                <a:latin typeface="Arial Rounded MT Bold" panose="020F0704030504030204" pitchFamily="34" charset="0"/>
              </a:rPr>
              <a:t>cust_detail</a:t>
            </a:r>
            <a:r>
              <a:rPr lang="en-IN" sz="1600" dirty="0">
                <a:latin typeface="Arial Rounded MT Bold" panose="020F0704030504030204" pitchFamily="34" charset="0"/>
              </a:rPr>
              <a:t>'[</a:t>
            </a:r>
            <a:r>
              <a:rPr lang="en-IN" sz="1600" dirty="0" err="1">
                <a:latin typeface="Arial Rounded MT Bold" panose="020F0704030504030204" pitchFamily="34" charset="0"/>
              </a:rPr>
              <a:t>customer_age</a:t>
            </a:r>
            <a:r>
              <a:rPr lang="en-IN" sz="1600" dirty="0">
                <a:latin typeface="Arial Rounded MT Bold" panose="020F0704030504030204" pitchFamily="34" charset="0"/>
              </a:rPr>
              <a:t>] &lt; 30, "20-30",</a:t>
            </a:r>
          </a:p>
          <a:p>
            <a:r>
              <a:rPr lang="en-IN" sz="1600" dirty="0">
                <a:latin typeface="Arial Rounded MT Bold" panose="020F0704030504030204" pitchFamily="34" charset="0"/>
              </a:rPr>
              <a:t>   'public </a:t>
            </a:r>
            <a:r>
              <a:rPr lang="en-IN" sz="1600" dirty="0" err="1">
                <a:latin typeface="Arial Rounded MT Bold" panose="020F0704030504030204" pitchFamily="34" charset="0"/>
              </a:rPr>
              <a:t>cust_detail</a:t>
            </a:r>
            <a:r>
              <a:rPr lang="en-IN" sz="1600" dirty="0">
                <a:latin typeface="Arial Rounded MT Bold" panose="020F0704030504030204" pitchFamily="34" charset="0"/>
              </a:rPr>
              <a:t>'[</a:t>
            </a:r>
            <a:r>
              <a:rPr lang="en-IN" sz="1600" dirty="0" err="1">
                <a:latin typeface="Arial Rounded MT Bold" panose="020F0704030504030204" pitchFamily="34" charset="0"/>
              </a:rPr>
              <a:t>customer_age</a:t>
            </a:r>
            <a:r>
              <a:rPr lang="en-IN" sz="1600" dirty="0">
                <a:latin typeface="Arial Rounded MT Bold" panose="020F0704030504030204" pitchFamily="34" charset="0"/>
              </a:rPr>
              <a:t>] &gt;= 30 &amp;&amp; 'public </a:t>
            </a:r>
            <a:r>
              <a:rPr lang="en-IN" sz="1600" dirty="0" err="1">
                <a:latin typeface="Arial Rounded MT Bold" panose="020F0704030504030204" pitchFamily="34" charset="0"/>
              </a:rPr>
              <a:t>cust_detail</a:t>
            </a:r>
            <a:r>
              <a:rPr lang="en-IN" sz="1600" dirty="0">
                <a:latin typeface="Arial Rounded MT Bold" panose="020F0704030504030204" pitchFamily="34" charset="0"/>
              </a:rPr>
              <a:t>'[</a:t>
            </a:r>
            <a:r>
              <a:rPr lang="en-IN" sz="1600" dirty="0" err="1">
                <a:latin typeface="Arial Rounded MT Bold" panose="020F0704030504030204" pitchFamily="34" charset="0"/>
              </a:rPr>
              <a:t>customer_age</a:t>
            </a:r>
            <a:r>
              <a:rPr lang="en-IN" sz="1600" dirty="0">
                <a:latin typeface="Arial Rounded MT Bold" panose="020F0704030504030204" pitchFamily="34" charset="0"/>
              </a:rPr>
              <a:t>] &lt; 40, "30-40",</a:t>
            </a:r>
          </a:p>
          <a:p>
            <a:r>
              <a:rPr lang="en-IN" sz="1600" dirty="0">
                <a:latin typeface="Arial Rounded MT Bold" panose="020F0704030504030204" pitchFamily="34" charset="0"/>
              </a:rPr>
              <a:t>   'public </a:t>
            </a:r>
            <a:r>
              <a:rPr lang="en-IN" sz="1600" dirty="0" err="1">
                <a:latin typeface="Arial Rounded MT Bold" panose="020F0704030504030204" pitchFamily="34" charset="0"/>
              </a:rPr>
              <a:t>cust_detail</a:t>
            </a:r>
            <a:r>
              <a:rPr lang="en-IN" sz="1600" dirty="0">
                <a:latin typeface="Arial Rounded MT Bold" panose="020F0704030504030204" pitchFamily="34" charset="0"/>
              </a:rPr>
              <a:t>'[</a:t>
            </a:r>
            <a:r>
              <a:rPr lang="en-IN" sz="1600" dirty="0" err="1">
                <a:latin typeface="Arial Rounded MT Bold" panose="020F0704030504030204" pitchFamily="34" charset="0"/>
              </a:rPr>
              <a:t>customer_age</a:t>
            </a:r>
            <a:r>
              <a:rPr lang="en-IN" sz="1600" dirty="0">
                <a:latin typeface="Arial Rounded MT Bold" panose="020F0704030504030204" pitchFamily="34" charset="0"/>
              </a:rPr>
              <a:t>] &gt;= 40 &amp;&amp; 'public </a:t>
            </a:r>
            <a:r>
              <a:rPr lang="en-IN" sz="1600" dirty="0" err="1">
                <a:latin typeface="Arial Rounded MT Bold" panose="020F0704030504030204" pitchFamily="34" charset="0"/>
              </a:rPr>
              <a:t>cust_detail</a:t>
            </a:r>
            <a:r>
              <a:rPr lang="en-IN" sz="1600" dirty="0">
                <a:latin typeface="Arial Rounded MT Bold" panose="020F0704030504030204" pitchFamily="34" charset="0"/>
              </a:rPr>
              <a:t>'[</a:t>
            </a:r>
            <a:r>
              <a:rPr lang="en-IN" sz="1600" dirty="0" err="1">
                <a:latin typeface="Arial Rounded MT Bold" panose="020F0704030504030204" pitchFamily="34" charset="0"/>
              </a:rPr>
              <a:t>customer_age</a:t>
            </a:r>
            <a:r>
              <a:rPr lang="en-IN" sz="1600" dirty="0">
                <a:latin typeface="Arial Rounded MT Bold" panose="020F0704030504030204" pitchFamily="34" charset="0"/>
              </a:rPr>
              <a:t>] &lt; 50, "40-50",</a:t>
            </a:r>
          </a:p>
          <a:p>
            <a:r>
              <a:rPr lang="en-IN" sz="1600" dirty="0">
                <a:latin typeface="Arial Rounded MT Bold" panose="020F0704030504030204" pitchFamily="34" charset="0"/>
              </a:rPr>
              <a:t>   'public </a:t>
            </a:r>
            <a:r>
              <a:rPr lang="en-IN" sz="1600" dirty="0" err="1">
                <a:latin typeface="Arial Rounded MT Bold" panose="020F0704030504030204" pitchFamily="34" charset="0"/>
              </a:rPr>
              <a:t>cust_detail</a:t>
            </a:r>
            <a:r>
              <a:rPr lang="en-IN" sz="1600" dirty="0">
                <a:latin typeface="Arial Rounded MT Bold" panose="020F0704030504030204" pitchFamily="34" charset="0"/>
              </a:rPr>
              <a:t>'[</a:t>
            </a:r>
            <a:r>
              <a:rPr lang="en-IN" sz="1600" dirty="0" err="1">
                <a:latin typeface="Arial Rounded MT Bold" panose="020F0704030504030204" pitchFamily="34" charset="0"/>
              </a:rPr>
              <a:t>customer_age</a:t>
            </a:r>
            <a:r>
              <a:rPr lang="en-IN" sz="1600" dirty="0">
                <a:latin typeface="Arial Rounded MT Bold" panose="020F0704030504030204" pitchFamily="34" charset="0"/>
              </a:rPr>
              <a:t>] &gt;= 50 &amp;&amp; 'public </a:t>
            </a:r>
            <a:r>
              <a:rPr lang="en-IN" sz="1600" dirty="0" err="1">
                <a:latin typeface="Arial Rounded MT Bold" panose="020F0704030504030204" pitchFamily="34" charset="0"/>
              </a:rPr>
              <a:t>cust_detail</a:t>
            </a:r>
            <a:r>
              <a:rPr lang="en-IN" sz="1600" dirty="0">
                <a:latin typeface="Arial Rounded MT Bold" panose="020F0704030504030204" pitchFamily="34" charset="0"/>
              </a:rPr>
              <a:t>'[</a:t>
            </a:r>
            <a:r>
              <a:rPr lang="en-IN" sz="1600" dirty="0" err="1">
                <a:latin typeface="Arial Rounded MT Bold" panose="020F0704030504030204" pitchFamily="34" charset="0"/>
              </a:rPr>
              <a:t>customer_age</a:t>
            </a:r>
            <a:r>
              <a:rPr lang="en-IN" sz="1600" dirty="0">
                <a:latin typeface="Arial Rounded MT Bold" panose="020F0704030504030204" pitchFamily="34" charset="0"/>
              </a:rPr>
              <a:t>] &lt; 60, "50-60",</a:t>
            </a:r>
          </a:p>
          <a:p>
            <a:r>
              <a:rPr lang="en-IN" sz="1600" dirty="0">
                <a:latin typeface="Arial Rounded MT Bold" panose="020F0704030504030204" pitchFamily="34" charset="0"/>
              </a:rPr>
              <a:t>   'public </a:t>
            </a:r>
            <a:r>
              <a:rPr lang="en-IN" sz="1600" dirty="0" err="1">
                <a:latin typeface="Arial Rounded MT Bold" panose="020F0704030504030204" pitchFamily="34" charset="0"/>
              </a:rPr>
              <a:t>cust_detail</a:t>
            </a:r>
            <a:r>
              <a:rPr lang="en-IN" sz="1600" dirty="0">
                <a:latin typeface="Arial Rounded MT Bold" panose="020F0704030504030204" pitchFamily="34" charset="0"/>
              </a:rPr>
              <a:t>'[</a:t>
            </a:r>
            <a:r>
              <a:rPr lang="en-IN" sz="1600" dirty="0" err="1">
                <a:latin typeface="Arial Rounded MT Bold" panose="020F0704030504030204" pitchFamily="34" charset="0"/>
              </a:rPr>
              <a:t>customer_age</a:t>
            </a:r>
            <a:r>
              <a:rPr lang="en-IN" sz="1600" dirty="0">
                <a:latin typeface="Arial Rounded MT Bold" panose="020F0704030504030204" pitchFamily="34" charset="0"/>
              </a:rPr>
              <a:t>] &gt;= 60, "60+",</a:t>
            </a:r>
          </a:p>
          <a:p>
            <a:r>
              <a:rPr lang="en-IN" sz="1600" dirty="0">
                <a:latin typeface="Arial Rounded MT Bold" panose="020F0704030504030204" pitchFamily="34" charset="0"/>
              </a:rPr>
              <a:t>  "unknown"</a:t>
            </a:r>
          </a:p>
          <a:p>
            <a:r>
              <a:rPr lang="en-IN" sz="1600" dirty="0">
                <a:latin typeface="Arial Rounded MT Bold" panose="020F0704030504030204" pitchFamily="34" charset="0"/>
              </a:rPr>
              <a:t>    )</a:t>
            </a:r>
          </a:p>
          <a:p>
            <a:r>
              <a:rPr lang="en-IN" sz="1600" dirty="0">
                <a:latin typeface="Arial Rounded MT Bold" panose="020F0704030504030204" pitchFamily="34" charset="0"/>
              </a:rPr>
              <a:t>2. </a:t>
            </a:r>
            <a:r>
              <a:rPr lang="en-IN" sz="1600" dirty="0" err="1">
                <a:latin typeface="Arial Rounded MT Bold" panose="020F0704030504030204" pitchFamily="34" charset="0"/>
              </a:rPr>
              <a:t>IncomeGroup</a:t>
            </a:r>
            <a:r>
              <a:rPr lang="en-IN" sz="1600" dirty="0">
                <a:latin typeface="Arial Rounded MT Bold" panose="020F0704030504030204" pitchFamily="34" charset="0"/>
              </a:rPr>
              <a:t> = SWITCH(</a:t>
            </a:r>
          </a:p>
          <a:p>
            <a:r>
              <a:rPr lang="en-IN" sz="1600" dirty="0">
                <a:latin typeface="Arial Rounded MT Bold" panose="020F0704030504030204" pitchFamily="34" charset="0"/>
              </a:rPr>
              <a:t>    TRUE(),</a:t>
            </a:r>
          </a:p>
          <a:p>
            <a:r>
              <a:rPr lang="en-IN" sz="1600" dirty="0">
                <a:latin typeface="Arial Rounded MT Bold" panose="020F0704030504030204" pitchFamily="34" charset="0"/>
              </a:rPr>
              <a:t>   'public </a:t>
            </a:r>
            <a:r>
              <a:rPr lang="en-IN" sz="1600" dirty="0" err="1">
                <a:latin typeface="Arial Rounded MT Bold" panose="020F0704030504030204" pitchFamily="34" charset="0"/>
              </a:rPr>
              <a:t>cust_detail</a:t>
            </a:r>
            <a:r>
              <a:rPr lang="en-IN" sz="1600" dirty="0">
                <a:latin typeface="Arial Rounded MT Bold" panose="020F0704030504030204" pitchFamily="34" charset="0"/>
              </a:rPr>
              <a:t>'[income] &lt; 35000, "Low",</a:t>
            </a:r>
          </a:p>
          <a:p>
            <a:r>
              <a:rPr lang="en-IN" sz="1600" dirty="0">
                <a:latin typeface="Arial Rounded MT Bold" panose="020F0704030504030204" pitchFamily="34" charset="0"/>
              </a:rPr>
              <a:t>   'public </a:t>
            </a:r>
            <a:r>
              <a:rPr lang="en-IN" sz="1600" dirty="0" err="1">
                <a:latin typeface="Arial Rounded MT Bold" panose="020F0704030504030204" pitchFamily="34" charset="0"/>
              </a:rPr>
              <a:t>cust_detail</a:t>
            </a:r>
            <a:r>
              <a:rPr lang="en-IN" sz="1600" dirty="0">
                <a:latin typeface="Arial Rounded MT Bold" panose="020F0704030504030204" pitchFamily="34" charset="0"/>
              </a:rPr>
              <a:t>'[income] &gt;= 35000 &amp;&amp; 'public </a:t>
            </a:r>
            <a:r>
              <a:rPr lang="en-IN" sz="1600" dirty="0" err="1">
                <a:latin typeface="Arial Rounded MT Bold" panose="020F0704030504030204" pitchFamily="34" charset="0"/>
              </a:rPr>
              <a:t>cust_detail</a:t>
            </a:r>
            <a:r>
              <a:rPr lang="en-IN" sz="1600" dirty="0">
                <a:latin typeface="Arial Rounded MT Bold" panose="020F0704030504030204" pitchFamily="34" charset="0"/>
              </a:rPr>
              <a:t>'[income] &lt;70000, "Med",</a:t>
            </a:r>
          </a:p>
          <a:p>
            <a:r>
              <a:rPr lang="en-IN" sz="1600" dirty="0">
                <a:latin typeface="Arial Rounded MT Bold" panose="020F0704030504030204" pitchFamily="34" charset="0"/>
              </a:rPr>
              <a:t>   ‘public </a:t>
            </a:r>
            <a:r>
              <a:rPr lang="en-IN" sz="1600" dirty="0" err="1">
                <a:latin typeface="Arial Rounded MT Bold" panose="020F0704030504030204" pitchFamily="34" charset="0"/>
              </a:rPr>
              <a:t>cust_detail</a:t>
            </a:r>
            <a:r>
              <a:rPr lang="en-IN" sz="1600" dirty="0">
                <a:latin typeface="Arial Rounded MT Bold" panose="020F0704030504030204" pitchFamily="34" charset="0"/>
              </a:rPr>
              <a:t>'[income] &gt;= 70000, "High",</a:t>
            </a:r>
          </a:p>
          <a:p>
            <a:r>
              <a:rPr lang="en-IN" sz="1600" dirty="0">
                <a:latin typeface="Arial Rounded MT Bold" panose="020F0704030504030204" pitchFamily="34" charset="0"/>
              </a:rPr>
              <a:t>  "unknown"</a:t>
            </a:r>
          </a:p>
          <a:p>
            <a:r>
              <a:rPr lang="en-IN" sz="1600" dirty="0">
                <a:latin typeface="Arial Rounded MT Bold" panose="020F0704030504030204" pitchFamily="34" charset="0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3643044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E16096-7894-7463-B200-B557C966ABB2}"/>
              </a:ext>
            </a:extLst>
          </p:cNvPr>
          <p:cNvSpPr txBox="1"/>
          <p:nvPr/>
        </p:nvSpPr>
        <p:spPr>
          <a:xfrm>
            <a:off x="1032387" y="747252"/>
            <a:ext cx="930131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7030A0"/>
                </a:solidFill>
                <a:latin typeface="Arial Rounded MT Bold" panose="020F0704030504030204" pitchFamily="34" charset="0"/>
              </a:rPr>
              <a:t>DAX Queries used</a:t>
            </a:r>
          </a:p>
          <a:p>
            <a:endParaRPr lang="en-IN" dirty="0">
              <a:latin typeface="Arial Rounded MT Bold" panose="020F0704030504030204" pitchFamily="34" charset="0"/>
            </a:endParaRPr>
          </a:p>
          <a:p>
            <a:r>
              <a:rPr lang="en-IN" dirty="0">
                <a:latin typeface="Arial Rounded MT Bold" panose="020F0704030504030204" pitchFamily="34" charset="0"/>
              </a:rPr>
              <a:t>week_num2 = WEEKNUM('public </a:t>
            </a:r>
            <a:r>
              <a:rPr lang="en-IN" dirty="0" err="1">
                <a:latin typeface="Arial Rounded MT Bold" panose="020F0704030504030204" pitchFamily="34" charset="0"/>
              </a:rPr>
              <a:t>cc_detail</a:t>
            </a:r>
            <a:r>
              <a:rPr lang="en-IN" dirty="0">
                <a:latin typeface="Arial Rounded MT Bold" panose="020F0704030504030204" pitchFamily="34" charset="0"/>
              </a:rPr>
              <a:t>'[</a:t>
            </a:r>
            <a:r>
              <a:rPr lang="en-IN" dirty="0" err="1">
                <a:latin typeface="Arial Rounded MT Bold" panose="020F0704030504030204" pitchFamily="34" charset="0"/>
              </a:rPr>
              <a:t>week_start_date</a:t>
            </a:r>
            <a:r>
              <a:rPr lang="en-IN" dirty="0">
                <a:latin typeface="Arial Rounded MT Bold" panose="020F0704030504030204" pitchFamily="34" charset="0"/>
              </a:rPr>
              <a:t>])</a:t>
            </a:r>
          </a:p>
          <a:p>
            <a:endParaRPr lang="en-IN" dirty="0">
              <a:latin typeface="Arial Rounded MT Bold" panose="020F0704030504030204" pitchFamily="34" charset="0"/>
            </a:endParaRPr>
          </a:p>
          <a:p>
            <a:r>
              <a:rPr lang="en-IN" dirty="0">
                <a:latin typeface="Arial Rounded MT Bold" panose="020F0704030504030204" pitchFamily="34" charset="0"/>
              </a:rPr>
              <a:t>Revenue = 'public </a:t>
            </a:r>
            <a:r>
              <a:rPr lang="en-IN" dirty="0" err="1">
                <a:latin typeface="Arial Rounded MT Bold" panose="020F0704030504030204" pitchFamily="34" charset="0"/>
              </a:rPr>
              <a:t>cc_detail</a:t>
            </a:r>
            <a:r>
              <a:rPr lang="en-IN" dirty="0">
                <a:latin typeface="Arial Rounded MT Bold" panose="020F0704030504030204" pitchFamily="34" charset="0"/>
              </a:rPr>
              <a:t>'[</a:t>
            </a:r>
            <a:r>
              <a:rPr lang="en-IN" dirty="0" err="1">
                <a:latin typeface="Arial Rounded MT Bold" panose="020F0704030504030204" pitchFamily="34" charset="0"/>
              </a:rPr>
              <a:t>annual_fees</a:t>
            </a:r>
            <a:r>
              <a:rPr lang="en-IN" dirty="0">
                <a:latin typeface="Arial Rounded MT Bold" panose="020F0704030504030204" pitchFamily="34" charset="0"/>
              </a:rPr>
              <a:t>] + 'public                    </a:t>
            </a:r>
            <a:r>
              <a:rPr lang="en-IN" dirty="0" err="1">
                <a:latin typeface="Arial Rounded MT Bold" panose="020F0704030504030204" pitchFamily="34" charset="0"/>
              </a:rPr>
              <a:t>cc_detail</a:t>
            </a:r>
            <a:r>
              <a:rPr lang="en-IN" dirty="0">
                <a:latin typeface="Arial Rounded MT Bold" panose="020F0704030504030204" pitchFamily="34" charset="0"/>
              </a:rPr>
              <a:t>'[</a:t>
            </a:r>
            <a:r>
              <a:rPr lang="en-IN" dirty="0" err="1">
                <a:latin typeface="Arial Rounded MT Bold" panose="020F0704030504030204" pitchFamily="34" charset="0"/>
              </a:rPr>
              <a:t>total_trans_amt</a:t>
            </a:r>
            <a:r>
              <a:rPr lang="en-IN" dirty="0">
                <a:latin typeface="Arial Rounded MT Bold" panose="020F0704030504030204" pitchFamily="34" charset="0"/>
              </a:rPr>
              <a:t>] + 'public </a:t>
            </a:r>
            <a:r>
              <a:rPr lang="en-IN" dirty="0" err="1">
                <a:latin typeface="Arial Rounded MT Bold" panose="020F0704030504030204" pitchFamily="34" charset="0"/>
              </a:rPr>
              <a:t>cc_detail</a:t>
            </a:r>
            <a:r>
              <a:rPr lang="en-IN" dirty="0">
                <a:latin typeface="Arial Rounded MT Bold" panose="020F0704030504030204" pitchFamily="34" charset="0"/>
              </a:rPr>
              <a:t>'[</a:t>
            </a:r>
            <a:r>
              <a:rPr lang="en-IN" dirty="0" err="1">
                <a:latin typeface="Arial Rounded MT Bold" panose="020F0704030504030204" pitchFamily="34" charset="0"/>
              </a:rPr>
              <a:t>interest_earned</a:t>
            </a:r>
            <a:r>
              <a:rPr lang="en-IN" dirty="0">
                <a:latin typeface="Arial Rounded MT Bold" panose="020F0704030504030204" pitchFamily="34" charset="0"/>
              </a:rPr>
              <a:t>]</a:t>
            </a:r>
          </a:p>
          <a:p>
            <a:endParaRPr lang="en-IN" dirty="0">
              <a:latin typeface="Arial Rounded MT Bold" panose="020F0704030504030204" pitchFamily="34" charset="0"/>
            </a:endParaRPr>
          </a:p>
          <a:p>
            <a:r>
              <a:rPr lang="en-IN" dirty="0" err="1">
                <a:latin typeface="Arial Rounded MT Bold" panose="020F0704030504030204" pitchFamily="34" charset="0"/>
              </a:rPr>
              <a:t>Current_week_Revenue</a:t>
            </a:r>
            <a:r>
              <a:rPr lang="en-IN" dirty="0">
                <a:latin typeface="Arial Rounded MT Bold" panose="020F0704030504030204" pitchFamily="34" charset="0"/>
              </a:rPr>
              <a:t> = CALCULATE(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SUM('public </a:t>
            </a:r>
            <a:r>
              <a:rPr lang="en-IN" dirty="0" err="1">
                <a:latin typeface="Arial Rounded MT Bold" panose="020F0704030504030204" pitchFamily="34" charset="0"/>
              </a:rPr>
              <a:t>cc_detail</a:t>
            </a:r>
            <a:r>
              <a:rPr lang="en-IN" dirty="0">
                <a:latin typeface="Arial Rounded MT Bold" panose="020F0704030504030204" pitchFamily="34" charset="0"/>
              </a:rPr>
              <a:t>'[Revenue]),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FILTER(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ALL('public </a:t>
            </a:r>
            <a:r>
              <a:rPr lang="en-IN" dirty="0" err="1">
                <a:latin typeface="Arial Rounded MT Bold" panose="020F0704030504030204" pitchFamily="34" charset="0"/>
              </a:rPr>
              <a:t>cc_detail</a:t>
            </a:r>
            <a:r>
              <a:rPr lang="en-IN" dirty="0">
                <a:latin typeface="Arial Rounded MT Bold" panose="020F0704030504030204" pitchFamily="34" charset="0"/>
              </a:rPr>
              <a:t>'),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'public </a:t>
            </a:r>
            <a:r>
              <a:rPr lang="en-IN" dirty="0" err="1">
                <a:latin typeface="Arial Rounded MT Bold" panose="020F0704030504030204" pitchFamily="34" charset="0"/>
              </a:rPr>
              <a:t>cc_detail</a:t>
            </a:r>
            <a:r>
              <a:rPr lang="en-IN" dirty="0">
                <a:latin typeface="Arial Rounded MT Bold" panose="020F0704030504030204" pitchFamily="34" charset="0"/>
              </a:rPr>
              <a:t>'[week_num2] = MAX('public </a:t>
            </a:r>
            <a:r>
              <a:rPr lang="en-IN" dirty="0" err="1">
                <a:latin typeface="Arial Rounded MT Bold" panose="020F0704030504030204" pitchFamily="34" charset="0"/>
              </a:rPr>
              <a:t>cc_detail</a:t>
            </a:r>
            <a:r>
              <a:rPr lang="en-IN" dirty="0">
                <a:latin typeface="Arial Rounded MT Bold" panose="020F0704030504030204" pitchFamily="34" charset="0"/>
              </a:rPr>
              <a:t>'[week_num2])))</a:t>
            </a:r>
          </a:p>
          <a:p>
            <a:endParaRPr lang="en-IN" dirty="0">
              <a:latin typeface="Arial Rounded MT Bold" panose="020F0704030504030204" pitchFamily="34" charset="0"/>
            </a:endParaRPr>
          </a:p>
          <a:p>
            <a:r>
              <a:rPr lang="en-IN" dirty="0" err="1">
                <a:latin typeface="Arial Rounded MT Bold" panose="020F0704030504030204" pitchFamily="34" charset="0"/>
              </a:rPr>
              <a:t>Previous_week_Revenue</a:t>
            </a:r>
            <a:r>
              <a:rPr lang="en-IN" dirty="0">
                <a:latin typeface="Arial Rounded MT Bold" panose="020F0704030504030204" pitchFamily="34" charset="0"/>
              </a:rPr>
              <a:t> = CALCULATE(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SUM('public </a:t>
            </a:r>
            <a:r>
              <a:rPr lang="en-IN" dirty="0" err="1">
                <a:latin typeface="Arial Rounded MT Bold" panose="020F0704030504030204" pitchFamily="34" charset="0"/>
              </a:rPr>
              <a:t>cc_detail</a:t>
            </a:r>
            <a:r>
              <a:rPr lang="en-IN" dirty="0">
                <a:latin typeface="Arial Rounded MT Bold" panose="020F0704030504030204" pitchFamily="34" charset="0"/>
              </a:rPr>
              <a:t>'[Revenue]),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FILTER(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ALL('public </a:t>
            </a:r>
            <a:r>
              <a:rPr lang="en-IN" dirty="0" err="1">
                <a:latin typeface="Arial Rounded MT Bold" panose="020F0704030504030204" pitchFamily="34" charset="0"/>
              </a:rPr>
              <a:t>cc_detail</a:t>
            </a:r>
            <a:r>
              <a:rPr lang="en-IN" dirty="0">
                <a:latin typeface="Arial Rounded MT Bold" panose="020F0704030504030204" pitchFamily="34" charset="0"/>
              </a:rPr>
              <a:t>'),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'public </a:t>
            </a:r>
            <a:r>
              <a:rPr lang="en-IN" dirty="0" err="1">
                <a:latin typeface="Arial Rounded MT Bold" panose="020F0704030504030204" pitchFamily="34" charset="0"/>
              </a:rPr>
              <a:t>cc_detail</a:t>
            </a:r>
            <a:r>
              <a:rPr lang="en-IN" dirty="0">
                <a:latin typeface="Arial Rounded MT Bold" panose="020F0704030504030204" pitchFamily="34" charset="0"/>
              </a:rPr>
              <a:t>'[week_num2] = MAX('public </a:t>
            </a:r>
            <a:r>
              <a:rPr lang="en-IN" dirty="0" err="1">
                <a:latin typeface="Arial Rounded MT Bold" panose="020F0704030504030204" pitchFamily="34" charset="0"/>
              </a:rPr>
              <a:t>cc_detail</a:t>
            </a:r>
            <a:r>
              <a:rPr lang="en-IN" dirty="0">
                <a:latin typeface="Arial Rounded MT Bold" panose="020F0704030504030204" pitchFamily="34" charset="0"/>
              </a:rPr>
              <a:t>'[week_num2])-1))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185F61-C645-3916-B090-5EFB32837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769" y="3429000"/>
            <a:ext cx="3893573" cy="209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41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ECC2FF-34B8-B0F2-B65A-EE8075DDAE17}"/>
              </a:ext>
            </a:extLst>
          </p:cNvPr>
          <p:cNvSpPr txBox="1"/>
          <p:nvPr/>
        </p:nvSpPr>
        <p:spPr>
          <a:xfrm>
            <a:off x="1592826" y="1622323"/>
            <a:ext cx="8986683" cy="4100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WoW change: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Revenue increased by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28.8%</a:t>
            </a:r>
            <a:r>
              <a:rPr lang="en-US" dirty="0">
                <a:latin typeface="Arial Rounded MT Bold" panose="020F0704030504030204" pitchFamily="34" charset="0"/>
              </a:rPr>
              <a:t>,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Total Transaction Amt &amp; Count increased by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2.22%</a:t>
            </a:r>
            <a:r>
              <a:rPr lang="en-US" dirty="0">
                <a:latin typeface="Arial Rounded MT Bold" panose="020F0704030504030204" pitchFamily="34" charset="0"/>
              </a:rPr>
              <a:t> &amp;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1.74%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Customer count increased by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1.80%</a:t>
            </a:r>
          </a:p>
          <a:p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Overview YTD: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Overall revenue is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57M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Total interest is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8M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Total transaction amount is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46M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Male customers are contributing more in revenue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31M</a:t>
            </a:r>
            <a:r>
              <a:rPr lang="en-US" dirty="0">
                <a:latin typeface="Arial Rounded MT Bold" panose="020F0704030504030204" pitchFamily="34" charset="0"/>
              </a:rPr>
              <a:t>, female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26M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Blue &amp; Silver credit card are contributing to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93%</a:t>
            </a:r>
            <a:r>
              <a:rPr lang="en-US" dirty="0">
                <a:latin typeface="Arial Rounded MT Bold" panose="020F0704030504030204" pitchFamily="34" charset="0"/>
              </a:rPr>
              <a:t> of overall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transactions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TX, NY &amp; CA </a:t>
            </a:r>
            <a:r>
              <a:rPr lang="en-US" dirty="0">
                <a:latin typeface="Arial Rounded MT Bold" panose="020F0704030504030204" pitchFamily="34" charset="0"/>
              </a:rPr>
              <a:t>is contributing to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68%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Overall Activation rate is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57.5%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Overall Delinquent rate is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6.06%</a:t>
            </a:r>
            <a:endParaRPr lang="en-IN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B6FE1-7BA3-73F7-A8D2-060ABA2F9A37}"/>
              </a:ext>
            </a:extLst>
          </p:cNvPr>
          <p:cNvSpPr txBox="1"/>
          <p:nvPr/>
        </p:nvSpPr>
        <p:spPr>
          <a:xfrm>
            <a:off x="2261419" y="950960"/>
            <a:ext cx="6086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Berlin Sans FB" panose="020E0602020502020306" pitchFamily="34" charset="0"/>
              </a:rPr>
              <a:t>Project Insights – Week 53 (31</a:t>
            </a:r>
            <a:r>
              <a:rPr lang="en-US" sz="2800" baseline="30000" dirty="0">
                <a:solidFill>
                  <a:srgbClr val="C00000"/>
                </a:solidFill>
                <a:latin typeface="Berlin Sans FB" panose="020E0602020502020306" pitchFamily="34" charset="0"/>
              </a:rPr>
              <a:t>st</a:t>
            </a:r>
            <a:r>
              <a:rPr lang="en-US" sz="2800" dirty="0">
                <a:solidFill>
                  <a:srgbClr val="C00000"/>
                </a:solidFill>
                <a:latin typeface="Berlin Sans FB" panose="020E0602020502020306" pitchFamily="34" charset="0"/>
              </a:rPr>
              <a:t> Dec)</a:t>
            </a:r>
            <a:endParaRPr lang="en-IN" sz="2800" dirty="0">
              <a:solidFill>
                <a:srgbClr val="C00000"/>
              </a:solidFill>
              <a:latin typeface="Berlin Sans FB" panose="020E0602020502020306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D2DF97-F3F2-CCD7-C14F-C56A37F94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142" y="3338053"/>
            <a:ext cx="4208206" cy="221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28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AB6998-2CF4-CF1F-8067-1379CC142FE4}"/>
              </a:ext>
            </a:extLst>
          </p:cNvPr>
          <p:cNvSpPr txBox="1"/>
          <p:nvPr/>
        </p:nvSpPr>
        <p:spPr>
          <a:xfrm>
            <a:off x="1484671" y="1229032"/>
            <a:ext cx="955695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Berlin Sans FB" panose="020E0602020502020306" pitchFamily="34" charset="0"/>
              </a:rPr>
              <a:t>Credit card financial dashboard using Power BI: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• </a:t>
            </a:r>
            <a:r>
              <a:rPr lang="en-US" sz="2000" dirty="0">
                <a:latin typeface="Arial Rounded MT Bold" panose="020F0704030504030204" pitchFamily="34" charset="0"/>
              </a:rPr>
              <a:t>Developed an interactive dashboard using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transaction and customer data from a SQL database,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to provide real-time insights.</a:t>
            </a:r>
          </a:p>
          <a:p>
            <a:endParaRPr lang="en-US" sz="2000" dirty="0">
              <a:latin typeface="Arial Rounded MT Bold" panose="020F0704030504030204" pitchFamily="34" charset="0"/>
            </a:endParaRPr>
          </a:p>
          <a:p>
            <a:r>
              <a:rPr lang="en-US" sz="2000" dirty="0">
                <a:latin typeface="Arial Rounded MT Bold" panose="020F0704030504030204" pitchFamily="34" charset="0"/>
              </a:rPr>
              <a:t>• Streamlined data processing &amp; analysis to monitor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key performance metrics and trends.</a:t>
            </a:r>
          </a:p>
          <a:p>
            <a:endParaRPr lang="en-US" sz="2000" dirty="0">
              <a:latin typeface="Arial Rounded MT Bold" panose="020F0704030504030204" pitchFamily="34" charset="0"/>
            </a:endParaRPr>
          </a:p>
          <a:p>
            <a:r>
              <a:rPr lang="en-US" sz="2000" dirty="0">
                <a:latin typeface="Arial Rounded MT Bold" panose="020F0704030504030204" pitchFamily="34" charset="0"/>
              </a:rPr>
              <a:t>• Shared actionable insights with stakeholders based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on dashboard findings to support decision-making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processes.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2BD974-AD01-1D96-11AF-74C67E487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193" y="3306524"/>
            <a:ext cx="5053781" cy="220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345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74</TotalTime>
  <Words>613</Words>
  <Application>Microsoft Office PowerPoint</Application>
  <PresentationFormat>Widescreen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Arial</vt:lpstr>
      <vt:lpstr>Arial Black</vt:lpstr>
      <vt:lpstr>Arial Rounded MT Bold</vt:lpstr>
      <vt:lpstr>Berlin Sans FB</vt:lpstr>
      <vt:lpstr>Garamond</vt:lpstr>
      <vt:lpstr>Organic</vt:lpstr>
      <vt:lpstr>CREDIT CARD </vt:lpstr>
      <vt:lpstr>Project Objective</vt:lpstr>
      <vt:lpstr>Steps followed for project creation</vt:lpstr>
      <vt:lpstr>Data</vt:lpstr>
      <vt:lpstr>Importing Data to SQL Database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raman</dc:creator>
  <cp:lastModifiedBy>raghu raman</cp:lastModifiedBy>
  <cp:revision>2</cp:revision>
  <dcterms:created xsi:type="dcterms:W3CDTF">2025-12-14T11:26:32Z</dcterms:created>
  <dcterms:modified xsi:type="dcterms:W3CDTF">2025-12-14T12:41:03Z</dcterms:modified>
</cp:coreProperties>
</file>